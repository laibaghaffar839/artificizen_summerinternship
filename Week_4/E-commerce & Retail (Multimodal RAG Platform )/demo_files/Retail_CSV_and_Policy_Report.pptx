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5BDB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8FA6F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Office Supplies</c:v>
                </c:pt>
                <c:pt idx="1">
                  <c:v>Furniture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3475.13</c:v>
                </c:pt>
                <c:pt idx="1">
                  <c:v>5361.68</c:v>
                </c:pt>
                <c:pt idx="2">
                  <c:v>2799.96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Office Supplies</c:v>
                  </c:pt>
                  <c:pt idx="1">
                    <c:v>Furniture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3475.13</c:v>
                </c:pt>
                <c:pt idx="1">
                  <c:v>5361.68</c:v>
                </c:pt>
                <c:pt idx="2">
                  <c:v>2799.96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1E8E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Office Supplies</c:v>
                  </c:pt>
                  <c:pt idx="1">
                    <c:v>Furniture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624</c:v>
                </c:pt>
                <c:pt idx="1">
                  <c:v>734.73</c:v>
                </c:pt>
                <c:pt idx="2">
                  <c:v>803.14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&amp; COMPLIANCE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468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January 2021 Sales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Order-line performance from Retail_file.csv, reviewed alongside Meridian Retail Supplies Co. policy standards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Operations &amp; Compliance Department        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order-line items  |  03 Jan – 20 Jan 2021  |  15 U.S. states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56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$11,637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categories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856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1188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$2,162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 blended margin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56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54 orders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856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7260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37260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line item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Split (Sales $)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3886200"/>
          <a:ext cx="49377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852160" y="35661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852160" y="3931920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24" name="Text 21"/>
          <p:cNvSpPr/>
          <p:nvPr/>
        </p:nvSpPr>
        <p:spPr>
          <a:xfrm>
            <a:off x="6126480" y="4114800"/>
            <a:ext cx="5212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leads on total revenue ($5,362)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carries the thinnest margin at 13.7%, largely driven by a single large Chairs order ($2,573.82).</a:t>
            </a:r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smallest category by revenue yet the most profitable, with a 28.7% margin — the strongest return per dollar sold.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Supplies Co.  |  RetailIQ Demo Workspace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vs. profit per category, and resulting margin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Ranking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818120" y="18745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7" name="Shape 4"/>
          <p:cNvSpPr/>
          <p:nvPr/>
        </p:nvSpPr>
        <p:spPr>
          <a:xfrm>
            <a:off x="8001000" y="2057400"/>
            <a:ext cx="685800" cy="685800"/>
          </a:xfrm>
          <a:prstGeom prst="roundRect">
            <a:avLst>
              <a:gd name="adj" fmla="val 66667"/>
            </a:avLst>
          </a:prstGeom>
          <a:solidFill>
            <a:srgbClr val="1E8E5A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239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23960" y="2441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sales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31089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8001000" y="3291840"/>
            <a:ext cx="685800" cy="685800"/>
          </a:xfrm>
          <a:prstGeom prst="roundRect">
            <a:avLst>
              <a:gd name="adj" fmla="val 66667"/>
            </a:avLst>
          </a:prstGeom>
          <a:solidFill>
            <a:srgbClr val="3B5BDB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3291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82396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823960" y="3675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sales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818120" y="43434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8001000" y="4526280"/>
            <a:ext cx="685800" cy="685800"/>
          </a:xfrm>
          <a:prstGeom prst="roundRect">
            <a:avLst>
              <a:gd name="adj" fmla="val 66667"/>
            </a:avLst>
          </a:prstGeom>
          <a:solidFill>
            <a:srgbClr val="C0392B"/>
          </a:solidFill>
          <a:ln/>
        </p:spPr>
      </p:sp>
      <p:sp>
        <p:nvSpPr>
          <p:cNvPr id="18" name="Text 15"/>
          <p:cNvSpPr/>
          <p:nvPr/>
        </p:nvSpPr>
        <p:spPr>
          <a:xfrm>
            <a:off x="8001000" y="4526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2396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23960" y="4910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sales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Supplies Co.  |  RetailIQ Demo Workspace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States &amp; Sample Records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by Sales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Kentucky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40280" y="1499616"/>
            <a:ext cx="3291840" cy="237744"/>
          </a:xfrm>
          <a:prstGeom prst="roundRect">
            <a:avLst>
              <a:gd name="adj" fmla="val 11538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2240280" y="1499616"/>
            <a:ext cx="3291840" cy="237744"/>
          </a:xfrm>
          <a:prstGeom prst="roundRect">
            <a:avLst>
              <a:gd name="adj" fmla="val 11538"/>
            </a:avLst>
          </a:prstGeom>
          <a:solidFill>
            <a:srgbClr val="3B5BDB"/>
          </a:solidFill>
          <a:ln/>
        </p:spPr>
      </p:sp>
      <p:sp>
        <p:nvSpPr>
          <p:cNvPr id="7" name="Text 5"/>
          <p:cNvSpPr/>
          <p:nvPr/>
        </p:nvSpPr>
        <p:spPr>
          <a:xfrm>
            <a:off x="562356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$4,374.88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Arkansas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40280" y="2029968"/>
            <a:ext cx="3291840" cy="237744"/>
          </a:xfrm>
          <a:prstGeom prst="roundRect">
            <a:avLst>
              <a:gd name="adj" fmla="val 11538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2240280" y="2029968"/>
            <a:ext cx="1399089" cy="237744"/>
          </a:xfrm>
          <a:prstGeom prst="roundRect">
            <a:avLst>
              <a:gd name="adj" fmla="val 11538"/>
            </a:avLst>
          </a:prstGeom>
          <a:solidFill>
            <a:srgbClr val="3B5BDB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9933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$1,859.40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237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40280" y="2560320"/>
            <a:ext cx="3291840" cy="237744"/>
          </a:xfrm>
          <a:prstGeom prst="roundRect">
            <a:avLst>
              <a:gd name="adj" fmla="val 11538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2240280" y="2560320"/>
            <a:ext cx="1307630" cy="237744"/>
          </a:xfrm>
          <a:prstGeom prst="roundRect">
            <a:avLst>
              <a:gd name="adj" fmla="val 11538"/>
            </a:avLst>
          </a:prstGeom>
          <a:solidFill>
            <a:srgbClr val="3B5BDB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25237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$1,737.85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540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Louisiana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40280" y="3090672"/>
            <a:ext cx="3291840" cy="237744"/>
          </a:xfrm>
          <a:prstGeom prst="roundRect">
            <a:avLst>
              <a:gd name="adj" fmla="val 11538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2240280" y="3090672"/>
            <a:ext cx="968587" cy="237744"/>
          </a:xfrm>
          <a:prstGeom prst="roundRect">
            <a:avLst>
              <a:gd name="adj" fmla="val 11538"/>
            </a:avLst>
          </a:prstGeom>
          <a:solidFill>
            <a:srgbClr val="3B5BDB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305409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$1,287.26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584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40280" y="3621024"/>
            <a:ext cx="3291840" cy="237744"/>
          </a:xfrm>
          <a:prstGeom prst="roundRect">
            <a:avLst>
              <a:gd name="adj" fmla="val 11538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2240280" y="3621024"/>
            <a:ext cx="410788" cy="237744"/>
          </a:xfrm>
          <a:prstGeom prst="roundRect">
            <a:avLst>
              <a:gd name="adj" fmla="val 11538"/>
            </a:avLst>
          </a:prstGeom>
          <a:solidFill>
            <a:srgbClr val="3B5BDB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35844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$545.94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Order Lines (first 5 of 54)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7589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965960"/>
                <a:gridCol w="1737360"/>
                <a:gridCol w="137160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03/01/2021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Darren Powers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Supplies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04/01/2021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Phillina Ober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Supplies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05/01/2021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Mick Brown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Supplies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06/01/2021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Lycoris Saunders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Supplies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06/01/2021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 Etezadi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$2,573.82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$746.41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503920" y="1051560"/>
            <a:ext cx="3108960" cy="40233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873252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732520" y="1691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records live in the platform's Retail_file.csv chat room. Store managers can ask questions like: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732520" y="242316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total profit for Furniture?”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state sold the most?”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orders for Maria Etezadi”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732520" y="4069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get a cited, source-backed answer in seconds.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Supplies Co.  |  RetailIQ Demo Workspace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Context: Returns &amp; Refunds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Meridian_Retail_Company_Policies.pdf — Section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822960" cy="822960"/>
          </a:xfrm>
          <a:prstGeom prst="roundRect">
            <a:avLst>
              <a:gd name="adj" fmla="val 55556"/>
            </a:avLst>
          </a:prstGeom>
          <a:solidFill>
            <a:srgbClr val="3B5BD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return window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Unopened / resalable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737360"/>
            <a:ext cx="822960" cy="822960"/>
          </a:xfrm>
          <a:prstGeom prst="roundRect">
            <a:avLst>
              <a:gd name="adj" fmla="val 5555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 return window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Unassembled or repackaged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1737360"/>
            <a:ext cx="822960" cy="822960"/>
          </a:xfrm>
          <a:prstGeom prst="roundRect">
            <a:avLst>
              <a:gd name="adj" fmla="val 55556"/>
            </a:avLst>
          </a:prstGeom>
          <a:solidFill>
            <a:srgbClr val="8FA6F3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 return window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packaging + accessories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Non-returnable &amp; refund method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/ final-sale items, custom-configured tech, and customer-damaged goods are excluded from returns.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refunds post to the original payment method within 5–7 business days; store credit is offered on request.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Supplies Co.  |  RetailIQ Demo Workspace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Context: Suppliers &amp; Conduct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Meridian_Retail_Company_Policies.pdf — Sections 2 &amp;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Payment Terms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Net-30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payment term from accepted delivery; Net-45 available after 24+ months with no unresolved quality disputes.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5 business days may incur a 2% order-value penalty.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threshold: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rate above 3% per batch triggers a full-batch review.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Authorization Limits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Discount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Associate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09360" y="37947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data: supplier contracts, pricing, and customer records may not be shared outside the organization without Compliance approval.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Supplies Co.  |  RetailIQ Demo Workspace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206240" cy="420624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workspace. Every source, cited.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33832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and company policy live in the same RetailIQ chat room — every answer traces back to the exact file, and page, it came from.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Supplies Co.  |  Operations &amp; Compliance Department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2026-08-01T11:16:02Z</dcterms:created>
  <dcterms:modified xsi:type="dcterms:W3CDTF">2026-08-01T11:16:02Z</dcterms:modified>
</cp:coreProperties>
</file>